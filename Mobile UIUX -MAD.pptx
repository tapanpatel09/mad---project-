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pan patel" initials="Tp" lastIdx="1" clrIdx="0">
    <p:extLst>
      <p:ext uri="{19B8F6BF-5375-455C-9EA6-DF929625EA0E}">
        <p15:presenceInfo xmlns:p15="http://schemas.microsoft.com/office/powerpoint/2012/main" userId="fed00e9b485ce11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083760" y="165240"/>
            <a:ext cx="5593680" cy="1869120"/>
          </a:xfrm>
          <a:prstGeom prst="rect">
            <a:avLst/>
          </a:prstGeom>
          <a:noFill/>
          <a:ln w="0">
            <a:noFill/>
          </a:ln>
        </p:spPr>
        <p:txBody>
          <a:bodyPr lIns="91440" tIns="91440" rIns="91440" bIns="91440" anchor="b">
            <a:noAutofit/>
          </a:bodyPr>
          <a:lstStyle/>
          <a:p>
            <a:pPr indent="0">
              <a:buNone/>
            </a:pPr>
            <a:r>
              <a:rPr lang="fr-FR" sz="54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228600" y="425880"/>
            <a:ext cx="2583720" cy="4385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cxnSp>
        <p:nvCxnSpPr>
          <p:cNvPr id="4" name="Google Shape;12;p2"/>
          <p:cNvCxnSpPr/>
          <p:nvPr/>
        </p:nvCxnSpPr>
        <p:spPr>
          <a:xfrm flipH="1">
            <a:off x="228600" y="4963680"/>
            <a:ext cx="378000" cy="360"/>
          </a:xfrm>
          <a:prstGeom prst="straightConnector1">
            <a:avLst/>
          </a:prstGeom>
          <a:ln w="38100">
            <a:solidFill>
              <a:srgbClr val="191919"/>
            </a:solidFill>
            <a:round/>
          </a:ln>
        </p:spPr>
      </p:cxnSp>
      <p:sp>
        <p:nvSpPr>
          <p:cNvPr id="5" name="Google Shape;13;p2"/>
          <p:cNvSpPr/>
          <p:nvPr/>
        </p:nvSpPr>
        <p:spPr>
          <a:xfrm>
            <a:off x="2530800" y="165240"/>
            <a:ext cx="474840" cy="259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0" u="none" strike="noStrike">
                <a:solidFill>
                  <a:schemeClr val="dk1"/>
                </a:solidFill>
                <a:effectLst/>
                <a:uFillTx/>
                <a:latin typeface="arial"/>
                <a:ea typeface="arial"/>
              </a:rPr>
              <a:t>01.</a:t>
            </a:r>
            <a:endParaRPr lang="en-US" sz="10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28600"/>
            <a:ext cx="6935400" cy="1490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cxnSp>
        <p:nvCxnSpPr>
          <p:cNvPr id="7" name="Google Shape;72;p14"/>
          <p:cNvCxnSpPr/>
          <p:nvPr/>
        </p:nvCxnSpPr>
        <p:spPr>
          <a:xfrm flipH="1">
            <a:off x="8297640" y="423360"/>
            <a:ext cx="378000" cy="360"/>
          </a:xfrm>
          <a:prstGeom prst="straightConnector1">
            <a:avLst/>
          </a:prstGeom>
          <a:ln w="38100">
            <a:solidFill>
              <a:srgbClr val="191919"/>
            </a:solidFill>
            <a:round/>
          </a:ln>
        </p:spPr>
      </p:cxn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17960" y="131040"/>
            <a:ext cx="5089680" cy="105840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0" name="Google Shape;117;p20"/>
          <p:cNvSpPr/>
          <p:nvPr/>
        </p:nvSpPr>
        <p:spPr>
          <a:xfrm>
            <a:off x="6038640" y="3758760"/>
            <a:ext cx="287640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arial"/>
                <a:ea typeface="arial"/>
              </a:rPr>
              <a:t>CREDITS:</a:t>
            </a:r>
            <a:r>
              <a:rPr lang="en" sz="1000" b="0" u="none" strike="noStrike">
                <a:solidFill>
                  <a:schemeClr val="dk1"/>
                </a:solidFill>
                <a:effectLst/>
                <a:uFillTx/>
                <a:latin typeface="arial"/>
                <a:ea typeface="arial"/>
              </a:rPr>
              <a:t> This presentation template was created by </a:t>
            </a:r>
            <a:r>
              <a:rPr lang="en" sz="1000" b="1" u="sng" strike="noStrike">
                <a:solidFill>
                  <a:schemeClr val="dk1"/>
                </a:solidFill>
                <a:effectLst/>
                <a:uFillTx/>
                <a:latin typeface="arial"/>
                <a:ea typeface="arial"/>
                <a:hlinkClick r:id="rId2"/>
              </a:rPr>
              <a:t>Slidesgo</a:t>
            </a:r>
            <a:r>
              <a:rPr lang="en" sz="1000" b="0" u="none" strike="noStrike">
                <a:solidFill>
                  <a:schemeClr val="dk1"/>
                </a:solidFill>
                <a:effectLst/>
                <a:uFillTx/>
                <a:latin typeface="arial"/>
                <a:ea typeface="arial"/>
              </a:rPr>
              <a:t>, and includes icons, infographics &amp; images by </a:t>
            </a:r>
            <a:r>
              <a:rPr lang="en" sz="1000" b="1" u="sng" strike="noStrike">
                <a:solidFill>
                  <a:schemeClr val="dk1"/>
                </a:solidFill>
                <a:effectLst/>
                <a:uFillTx/>
                <a:latin typeface="arial"/>
                <a:ea typeface="arial"/>
                <a:hlinkClick r:id="rId3"/>
              </a:rPr>
              <a:t>Freepik</a:t>
            </a:r>
            <a:r>
              <a:rPr lang="en" sz="1000" b="0" u="none" strike="noStrike">
                <a:solidFill>
                  <a:schemeClr val="dk1"/>
                </a:solidFill>
                <a:effectLst/>
                <a:uFillTx/>
                <a:latin typeface="arial"/>
                <a:ea typeface="arial"/>
              </a:rPr>
              <a:t> </a:t>
            </a:r>
            <a:endParaRPr lang="en-US" sz="1000" b="0" u="none" strike="noStrike">
              <a:solidFill>
                <a:srgbClr val="000000"/>
              </a:solidFill>
              <a:effectLst/>
              <a:uFillTx/>
              <a:latin typeface="OpenSymbol"/>
            </a:endParaRPr>
          </a:p>
        </p:txBody>
      </p:sp>
      <p:cxnSp>
        <p:nvCxnSpPr>
          <p:cNvPr id="11" name="Google Shape;118;p20"/>
          <p:cNvCxnSpPr/>
          <p:nvPr/>
        </p:nvCxnSpPr>
        <p:spPr>
          <a:xfrm flipH="1">
            <a:off x="8297640" y="755280"/>
            <a:ext cx="378000" cy="360"/>
          </a:xfrm>
          <a:prstGeom prst="straightConnector1">
            <a:avLst/>
          </a:prstGeom>
          <a:ln w="38100">
            <a:solidFill>
              <a:srgbClr val="191919"/>
            </a:solidFill>
            <a:roun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2860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3" name="PlaceHolder 2"/>
          <p:cNvSpPr>
            <a:spLocks noGrp="1"/>
          </p:cNvSpPr>
          <p:nvPr>
            <p:ph type="body"/>
          </p:nvPr>
        </p:nvSpPr>
        <p:spPr>
          <a:xfrm>
            <a:off x="457200" y="944280"/>
            <a:ext cx="7703640" cy="4186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14" name="Google Shape;23;p4"/>
          <p:cNvCxnSpPr/>
          <p:nvPr/>
        </p:nvCxnSpPr>
        <p:spPr>
          <a:xfrm flipH="1">
            <a:off x="8297640" y="423360"/>
            <a:ext cx="378000" cy="360"/>
          </a:xfrm>
          <a:prstGeom prst="straightConnector1">
            <a:avLst/>
          </a:prstGeom>
          <a:ln w="38100">
            <a:solidFill>
              <a:srgbClr val="191919"/>
            </a:solidFill>
            <a:roun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oogle Shape;140;p27"/>
          <p:cNvPicPr/>
          <p:nvPr/>
        </p:nvPicPr>
        <p:blipFill>
          <a:blip r:embed="rId2"/>
          <a:stretch/>
        </p:blipFill>
        <p:spPr>
          <a:xfrm>
            <a:off x="228600" y="428760"/>
            <a:ext cx="2580840" cy="4381200"/>
          </a:xfrm>
          <a:prstGeom prst="rect">
            <a:avLst/>
          </a:prstGeom>
          <a:noFill/>
          <a:ln w="0">
            <a:noFill/>
          </a:ln>
        </p:spPr>
      </p:pic>
      <p:sp>
        <p:nvSpPr>
          <p:cNvPr id="16" name="Rectangle 15"/>
          <p:cNvSpPr/>
          <p:nvPr/>
        </p:nvSpPr>
        <p:spPr>
          <a:xfrm>
            <a:off x="2158517" y="771600"/>
            <a:ext cx="5590800" cy="6854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85000" lnSpcReduction="19999"/>
          </a:bodyPr>
          <a:lstStyle/>
          <a:p>
            <a:pPr algn="r" defTabSz="914400">
              <a:lnSpc>
                <a:spcPct val="100000"/>
              </a:lnSpc>
              <a:tabLst>
                <a:tab pos="0" algn="l"/>
              </a:tabLst>
            </a:pPr>
            <a:r>
              <a:rPr lang="en-US" sz="5400" b="0" u="none" strike="noStrike" dirty="0">
                <a:solidFill>
                  <a:srgbClr val="191919"/>
                </a:solidFill>
                <a:effectLst/>
                <a:uFillTx/>
                <a:latin typeface="Radio Canada Big"/>
              </a:rPr>
              <a:t>Mobile UI/UX</a:t>
            </a:r>
            <a:endParaRPr lang="en-US" sz="5400" b="0" u="none" strike="noStrike" dirty="0">
              <a:solidFill>
                <a:srgbClr val="000000"/>
              </a:solidFill>
              <a:effectLst/>
              <a:uFillTx/>
              <a:latin typeface="OpenSymbol"/>
            </a:endParaRPr>
          </a:p>
        </p:txBody>
      </p:sp>
      <p:sp>
        <p:nvSpPr>
          <p:cNvPr id="17" name="Rectangle 16"/>
          <p:cNvSpPr/>
          <p:nvPr/>
        </p:nvSpPr>
        <p:spPr>
          <a:xfrm>
            <a:off x="4953917" y="1857968"/>
            <a:ext cx="4024429" cy="1806257"/>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b="0" u="none" strike="noStrike" dirty="0">
                <a:solidFill>
                  <a:srgbClr val="000000"/>
                </a:solidFill>
                <a:effectLst/>
                <a:uFillTx/>
                <a:latin typeface="OpenSymbol"/>
              </a:rPr>
              <a:t>NAME: Tapan Patel </a:t>
            </a:r>
          </a:p>
          <a:p>
            <a:pPr defTabSz="914400">
              <a:lnSpc>
                <a:spcPct val="150000"/>
              </a:lnSpc>
              <a:tabLst>
                <a:tab pos="0" algn="l"/>
              </a:tabLst>
            </a:pPr>
            <a:r>
              <a:rPr lang="en-US" b="0" u="none" strike="noStrike" dirty="0">
                <a:solidFill>
                  <a:srgbClr val="000000"/>
                </a:solidFill>
                <a:effectLst/>
                <a:uFillTx/>
                <a:latin typeface="OpenSymbol"/>
              </a:rPr>
              <a:t>Enrollment No.: 12302080601119</a:t>
            </a:r>
          </a:p>
          <a:p>
            <a:pPr>
              <a:lnSpc>
                <a:spcPct val="150000"/>
              </a:lnSpc>
              <a:tabLst>
                <a:tab pos="0" algn="l"/>
              </a:tabLst>
            </a:pPr>
            <a:r>
              <a:rPr lang="en-US" dirty="0">
                <a:latin typeface="OpenSymbol"/>
              </a:rPr>
              <a:t>Class: IT1 (C8A)</a:t>
            </a:r>
          </a:p>
          <a:p>
            <a:pPr defTabSz="914400">
              <a:lnSpc>
                <a:spcPct val="150000"/>
              </a:lnSpc>
              <a:tabLst>
                <a:tab pos="0" algn="l"/>
              </a:tabLst>
            </a:pPr>
            <a:endParaRPr lang="en-US" b="0" u="none" strike="noStrike" dirty="0">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457200" y="228600"/>
            <a:ext cx="6933960" cy="447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3500" b="0" u="none" strike="noStrike">
                <a:solidFill>
                  <a:srgbClr val="191919"/>
                </a:solidFill>
                <a:effectLst/>
                <a:uFillTx/>
                <a:latin typeface="Radio Canada Big"/>
              </a:rPr>
              <a:t>UI vs UX</a:t>
            </a:r>
            <a:endParaRPr lang="en-US" sz="3500" b="0" u="none" strike="noStrike">
              <a:solidFill>
                <a:srgbClr val="000000"/>
              </a:solidFill>
              <a:effectLst/>
              <a:uFillTx/>
              <a:latin typeface="OpenSymbol"/>
            </a:endParaRPr>
          </a:p>
        </p:txBody>
      </p:sp>
      <p:sp>
        <p:nvSpPr>
          <p:cNvPr id="19" name="Rectangle 18"/>
          <p:cNvSpPr/>
          <p:nvPr/>
        </p:nvSpPr>
        <p:spPr>
          <a:xfrm>
            <a:off x="731614" y="1233281"/>
            <a:ext cx="7680772" cy="257175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50000"/>
              </a:lnSpc>
              <a:tabLst>
                <a:tab pos="0" algn="l"/>
              </a:tabLst>
            </a:pPr>
            <a:r>
              <a:rPr lang="en-US" b="0" u="none" strike="noStrike" dirty="0">
                <a:solidFill>
                  <a:srgbClr val="191919"/>
                </a:solidFill>
                <a:effectLst/>
                <a:uFillTx/>
                <a:latin typeface="arial"/>
              </a:rPr>
              <a:t>UI is the visual and interactive layer: colors, typography, buttons, inputs, and how users tap or type. UX is the end-to-end journey and value users gain, from signing up to completing a task with minimal friction. Example: a login screen shows the UI—fields, a primary button, icons; the UX depends on sign-in speed and clear error messages. A good UX makes the flow fast and forgiving; a poor UX </a:t>
            </a:r>
            <a:r>
              <a:rPr lang="en-US" b="0" u="none" strike="noStrike" dirty="0" err="1">
                <a:solidFill>
                  <a:srgbClr val="191919"/>
                </a:solidFill>
                <a:effectLst/>
                <a:uFillTx/>
                <a:latin typeface="arial"/>
              </a:rPr>
              <a:t>hN</a:t>
            </a:r>
            <a:endParaRPr lang="en-US" b="0" u="none" strike="noStrike" dirty="0">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191919"/>
                </a:solidFill>
                <a:effectLst/>
                <a:uFillTx/>
                <a:latin typeface="Radio Canada Big"/>
              </a:rPr>
              <a:t>Good UX Wins</a:t>
            </a:r>
            <a:endParaRPr lang="en-US" sz="2400" b="0" u="none" strike="noStrike">
              <a:solidFill>
                <a:srgbClr val="000000"/>
              </a:solidFill>
              <a:effectLst/>
              <a:uFillTx/>
              <a:latin typeface="OpenSymbol"/>
            </a:endParaRPr>
          </a:p>
        </p:txBody>
      </p:sp>
      <p:sp>
        <p:nvSpPr>
          <p:cNvPr id="21" name="Rectangle 20"/>
          <p:cNvSpPr/>
          <p:nvPr/>
        </p:nvSpPr>
        <p:spPr>
          <a:xfrm>
            <a:off x="476279" y="1333440"/>
            <a:ext cx="3983077" cy="2787986"/>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b="0" u="none" strike="noStrike" dirty="0">
                <a:solidFill>
                  <a:srgbClr val="191919"/>
                </a:solidFill>
                <a:effectLst/>
                <a:uFillTx/>
                <a:latin typeface="arial"/>
              </a:rPr>
              <a:t>A clear primary CTA and legible text guide users instantly to complete tasks. One-tap checkout reduces effort and supports quick decisions, keeping carts from abandoning.</a:t>
            </a:r>
            <a:endParaRPr lang="en-US" b="0" u="none" strike="noStrike" dirty="0">
              <a:solidFill>
                <a:srgbClr val="000000"/>
              </a:solidFill>
              <a:effectLst/>
              <a:uFillTx/>
              <a:latin typeface="OpenSymbol"/>
            </a:endParaRPr>
          </a:p>
        </p:txBody>
      </p:sp>
      <p:sp>
        <p:nvSpPr>
          <p:cNvPr id="22" name="Rectangle 21"/>
          <p:cNvSpPr/>
          <p:nvPr/>
        </p:nvSpPr>
        <p:spPr>
          <a:xfrm>
            <a:off x="4762440" y="1333440"/>
            <a:ext cx="4381560" cy="294701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b="0" u="none" strike="noStrike" dirty="0">
                <a:solidFill>
                  <a:srgbClr val="191919"/>
                </a:solidFill>
                <a:effectLst/>
                <a:uFillTx/>
                <a:latin typeface="arial"/>
              </a:rPr>
              <a:t>Hidden CTAs, tiny text, and multi-step checkout create friction and confusion. These frictions increase drop-offs and frustrate users during shopping.</a:t>
            </a:r>
            <a:endParaRPr lang="en-US" b="0" u="none" strike="noStrike" dirty="0">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476280" y="40050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algn="ctr" defTabSz="914400">
              <a:lnSpc>
                <a:spcPct val="100000"/>
              </a:lnSpc>
              <a:tabLst>
                <a:tab pos="0" algn="l"/>
              </a:tabLst>
            </a:pPr>
            <a:r>
              <a:rPr lang="en-US" sz="2400" b="1" u="none" strike="noStrike" dirty="0">
                <a:solidFill>
                  <a:srgbClr val="191919"/>
                </a:solidFill>
                <a:effectLst/>
                <a:uFillTx/>
                <a:latin typeface="Radio Canada Big"/>
              </a:rPr>
              <a:t>UI vs UX</a:t>
            </a:r>
            <a:endParaRPr lang="en-US" sz="2400" b="0" u="none" strike="noStrike" dirty="0">
              <a:solidFill>
                <a:srgbClr val="000000"/>
              </a:solidFill>
              <a:effectLst/>
              <a:uFillTx/>
              <a:latin typeface="OpenSymbol"/>
            </a:endParaRPr>
          </a:p>
        </p:txBody>
      </p:sp>
      <p:sp>
        <p:nvSpPr>
          <p:cNvPr id="25" name="Rectangle 24"/>
          <p:cNvSpPr/>
          <p:nvPr/>
        </p:nvSpPr>
        <p:spPr>
          <a:xfrm>
            <a:off x="476280" y="1238400"/>
            <a:ext cx="39049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1" u="none" strike="noStrike">
                <a:solidFill>
                  <a:srgbClr val="191919"/>
                </a:solidFill>
                <a:effectLst/>
                <a:uFillTx/>
                <a:latin typeface="arial"/>
              </a:rPr>
              <a:t>UI: Appearance &amp; Interaction</a:t>
            </a:r>
            <a:endParaRPr lang="en-US" sz="1400" b="0" u="none" strike="noStrike">
              <a:solidFill>
                <a:srgbClr val="000000"/>
              </a:solidFill>
              <a:effectLst/>
              <a:uFillTx/>
              <a:latin typeface="OpenSymbol"/>
            </a:endParaRPr>
          </a:p>
        </p:txBody>
      </p:sp>
      <p:sp>
        <p:nvSpPr>
          <p:cNvPr id="26" name="Rectangle 25"/>
          <p:cNvSpPr/>
          <p:nvPr/>
        </p:nvSpPr>
        <p:spPr>
          <a:xfrm>
            <a:off x="476280" y="1695600"/>
            <a:ext cx="390492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arial"/>
              </a:rPr>
              <a:t>UI governs colors, typography, icons, button states, and spacing. It shapes first impressions and micro-interactions that feel responsive. It answers how the app looks and how it behaves at a glance.</a:t>
            </a:r>
            <a:endParaRPr lang="en-US" sz="1200" b="0" u="none" strike="noStrike">
              <a:solidFill>
                <a:srgbClr val="000000"/>
              </a:solidFill>
              <a:effectLst/>
              <a:uFillTx/>
              <a:latin typeface="OpenSymbol"/>
            </a:endParaRPr>
          </a:p>
        </p:txBody>
      </p:sp>
      <p:sp>
        <p:nvSpPr>
          <p:cNvPr id="27" name="Rectangle 26"/>
          <p:cNvSpPr/>
          <p:nvPr/>
        </p:nvSpPr>
        <p:spPr>
          <a:xfrm>
            <a:off x="4762440" y="1238400"/>
            <a:ext cx="39049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1" u="none" strike="noStrike">
                <a:solidFill>
                  <a:srgbClr val="191919"/>
                </a:solidFill>
                <a:effectLst/>
                <a:uFillTx/>
                <a:latin typeface="arial"/>
              </a:rPr>
              <a:t>UX: Goals &amp; Flows</a:t>
            </a:r>
            <a:endParaRPr lang="en-US" sz="1400" b="0" u="none" strike="noStrike">
              <a:solidFill>
                <a:srgbClr val="000000"/>
              </a:solidFill>
              <a:effectLst/>
              <a:uFillTx/>
              <a:latin typeface="OpenSymbol"/>
            </a:endParaRPr>
          </a:p>
        </p:txBody>
      </p:sp>
      <p:sp>
        <p:nvSpPr>
          <p:cNvPr id="28" name="Rectangle 27"/>
          <p:cNvSpPr/>
          <p:nvPr/>
        </p:nvSpPr>
        <p:spPr>
          <a:xfrm>
            <a:off x="4762440" y="1695600"/>
            <a:ext cx="390492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arial"/>
              </a:rPr>
              <a:t>UX covers user research, information architecture, user flows, and usability testing. It defines user goals, paths, and task efficiency. A beautiful UI onboarding screen still fails if the UX forces unnecessary steps—good products combine both.</a:t>
            </a:r>
            <a:endParaRPr lang="en-US" sz="1200" b="0" u="none" strike="noStrike">
              <a:solidFill>
                <a:srgbClr val="000000"/>
              </a:solidFill>
              <a:effectLst/>
              <a:uFillTx/>
              <a:latin typeface="OpenSymbol"/>
            </a:endParaRPr>
          </a:p>
        </p:txBody>
      </p:sp>
      <p:sp>
        <p:nvSpPr>
          <p:cNvPr id="29" name="Rectangle 28"/>
          <p:cNvSpPr/>
          <p:nvPr/>
        </p:nvSpPr>
        <p:spPr>
          <a:xfrm>
            <a:off x="476280" y="4229280"/>
            <a:ext cx="8191080" cy="333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arial"/>
              </a:rPr>
              <a:t>UI and UX must work together.</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457200" y="228600"/>
            <a:ext cx="6933960" cy="447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3500" b="0" u="none" strike="noStrike">
                <a:solidFill>
                  <a:srgbClr val="191919"/>
                </a:solidFill>
                <a:effectLst/>
                <a:uFillTx/>
                <a:latin typeface="Radio Canada Big"/>
              </a:rPr>
              <a:t>Consistency &amp; Clarity</a:t>
            </a:r>
            <a:endParaRPr lang="en-US" sz="3500" b="0" u="none" strike="noStrike">
              <a:solidFill>
                <a:srgbClr val="000000"/>
              </a:solidFill>
              <a:effectLst/>
              <a:uFillTx/>
              <a:latin typeface="OpenSymbol"/>
            </a:endParaRPr>
          </a:p>
        </p:txBody>
      </p:sp>
      <p:sp>
        <p:nvSpPr>
          <p:cNvPr id="31" name="Rectangle 30"/>
          <p:cNvSpPr/>
          <p:nvPr/>
        </p:nvSpPr>
        <p:spPr>
          <a:xfrm>
            <a:off x="701477" y="1156357"/>
            <a:ext cx="7741045" cy="2830786"/>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50000"/>
              </a:lnSpc>
              <a:tabLst>
                <a:tab pos="0" algn="l"/>
              </a:tabLst>
            </a:pPr>
            <a:r>
              <a:rPr lang="en-US" b="0" u="none" strike="noStrike" dirty="0">
                <a:solidFill>
                  <a:srgbClr val="191919"/>
                </a:solidFill>
                <a:effectLst/>
                <a:uFillTx/>
                <a:latin typeface="arial"/>
              </a:rPr>
              <a:t>Apply consistency across screens by reusing the same primary button color and style. Establish visual hierarchy with larger bold headlines for product name, then smaller secondary text like price. Aim for simplicity with a single primary action per screen, such as Add to Cart. Ensure readability with 16–18sp body text and strong contrast, spacing for touch targets ≥44px, and clear feedback through</a:t>
            </a:r>
            <a:endParaRPr lang="en-US" b="0" u="none" strike="noStrike" dirty="0">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Rounded Corners 31"/>
          <p:cNvSpPr/>
          <p:nvPr/>
        </p:nvSpPr>
        <p:spPr>
          <a:xfrm>
            <a:off x="172404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 name="Rectangle: Rounded Corners 32"/>
          <p:cNvSpPr/>
          <p:nvPr/>
        </p:nvSpPr>
        <p:spPr>
          <a:xfrm>
            <a:off x="308628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4" name="Rectangle: Rounded Corners 33"/>
          <p:cNvSpPr/>
          <p:nvPr/>
        </p:nvSpPr>
        <p:spPr>
          <a:xfrm>
            <a:off x="444816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5" name="Rectangle: Rounded Corners 34"/>
          <p:cNvSpPr/>
          <p:nvPr/>
        </p:nvSpPr>
        <p:spPr>
          <a:xfrm>
            <a:off x="581040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6" name="Rectangle: Rounded Corners 35"/>
          <p:cNvSpPr/>
          <p:nvPr/>
        </p:nvSpPr>
        <p:spPr>
          <a:xfrm>
            <a:off x="717228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7" name="Rectangle: Rounded Corners 36"/>
          <p:cNvSpPr/>
          <p:nvPr/>
        </p:nvSpPr>
        <p:spPr>
          <a:xfrm>
            <a:off x="476280" y="2000160"/>
            <a:ext cx="1247400" cy="2091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8" name="Rectangle: Rounded Corners 37"/>
          <p:cNvSpPr/>
          <p:nvPr/>
        </p:nvSpPr>
        <p:spPr>
          <a:xfrm>
            <a:off x="109548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9" name="Rectangle: Rounded Corners 38"/>
          <p:cNvSpPr/>
          <p:nvPr/>
        </p:nvSpPr>
        <p:spPr>
          <a:xfrm>
            <a:off x="1838160" y="2000160"/>
            <a:ext cx="1247400" cy="2091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0" name="Rectangle: Rounded Corners 39"/>
          <p:cNvSpPr/>
          <p:nvPr/>
        </p:nvSpPr>
        <p:spPr>
          <a:xfrm>
            <a:off x="245736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1" name="Rectangle: Rounded Corners 40"/>
          <p:cNvSpPr/>
          <p:nvPr/>
        </p:nvSpPr>
        <p:spPr>
          <a:xfrm>
            <a:off x="3200400" y="2000160"/>
            <a:ext cx="1247400" cy="2091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2" name="Rectangle: Rounded Corners 41"/>
          <p:cNvSpPr/>
          <p:nvPr/>
        </p:nvSpPr>
        <p:spPr>
          <a:xfrm>
            <a:off x="381960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3" name="Rectangle: Rounded Corners 42"/>
          <p:cNvSpPr/>
          <p:nvPr/>
        </p:nvSpPr>
        <p:spPr>
          <a:xfrm>
            <a:off x="4562640" y="2000160"/>
            <a:ext cx="1247400" cy="2091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4" name="Rectangle: Rounded Corners 43"/>
          <p:cNvSpPr/>
          <p:nvPr/>
        </p:nvSpPr>
        <p:spPr>
          <a:xfrm>
            <a:off x="518148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5" name="Rectangle: Rounded Corners 44"/>
          <p:cNvSpPr/>
          <p:nvPr/>
        </p:nvSpPr>
        <p:spPr>
          <a:xfrm>
            <a:off x="5924520" y="2000160"/>
            <a:ext cx="1247400" cy="2091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6" name="Rectangle: Rounded Corners 45"/>
          <p:cNvSpPr/>
          <p:nvPr/>
        </p:nvSpPr>
        <p:spPr>
          <a:xfrm>
            <a:off x="654372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7" name="Rectangle: Rounded Corners 46"/>
          <p:cNvSpPr/>
          <p:nvPr/>
        </p:nvSpPr>
        <p:spPr>
          <a:xfrm>
            <a:off x="7286760" y="2000160"/>
            <a:ext cx="1247400" cy="2091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8" name="Rectangle: Rounded Corners 47"/>
          <p:cNvSpPr/>
          <p:nvPr/>
        </p:nvSpPr>
        <p:spPr>
          <a:xfrm>
            <a:off x="790560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9" name="Rectangle 48"/>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0" u="none" strike="noStrike">
                <a:solidFill>
                  <a:srgbClr val="191919"/>
                </a:solidFill>
                <a:effectLst/>
                <a:uFillTx/>
                <a:latin typeface="Radio Canada Big"/>
              </a:rPr>
              <a:t>Mobile Design Steps</a:t>
            </a:r>
            <a:endParaRPr lang="en-US" sz="2600" b="0" u="none" strike="noStrike">
              <a:solidFill>
                <a:srgbClr val="000000"/>
              </a:solidFill>
              <a:effectLst/>
              <a:uFillTx/>
              <a:latin typeface="OpenSymbol"/>
            </a:endParaRPr>
          </a:p>
        </p:txBody>
      </p:sp>
      <p:sp>
        <p:nvSpPr>
          <p:cNvPr id="50" name="Rectangle 49"/>
          <p:cNvSpPr/>
          <p:nvPr/>
        </p:nvSpPr>
        <p:spPr>
          <a:xfrm>
            <a:off x="476280" y="1219320"/>
            <a:ext cx="124740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Radio Canada Big"/>
              </a:rPr>
              <a:t>Responsive</a:t>
            </a:r>
            <a:endParaRPr lang="en-US" sz="1400" b="0" u="none" strike="noStrike">
              <a:solidFill>
                <a:srgbClr val="000000"/>
              </a:solidFill>
              <a:effectLst/>
              <a:uFillTx/>
              <a:latin typeface="OpenSymbol"/>
            </a:endParaRPr>
          </a:p>
        </p:txBody>
      </p:sp>
      <p:sp>
        <p:nvSpPr>
          <p:cNvPr id="51" name="Rectangle 50"/>
          <p:cNvSpPr/>
          <p:nvPr/>
        </p:nvSpPr>
        <p:spPr>
          <a:xfrm>
            <a:off x="476280" y="2619360"/>
            <a:ext cx="124740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arial"/>
              </a:rPr>
              <a:t>Design layouts that scale from small to large screens.</a:t>
            </a:r>
            <a:endParaRPr lang="en-US" sz="1200" b="0" u="none" strike="noStrike">
              <a:solidFill>
                <a:srgbClr val="000000"/>
              </a:solidFill>
              <a:effectLst/>
              <a:uFillTx/>
              <a:latin typeface="OpenSymbol"/>
            </a:endParaRPr>
          </a:p>
        </p:txBody>
      </p:sp>
      <p:sp>
        <p:nvSpPr>
          <p:cNvPr id="52" name="Rectangle 51"/>
          <p:cNvSpPr/>
          <p:nvPr/>
        </p:nvSpPr>
        <p:spPr>
          <a:xfrm>
            <a:off x="183816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Radio Canada Big"/>
              </a:rPr>
              <a:t>Touch Targets</a:t>
            </a:r>
            <a:endParaRPr lang="en-US" sz="1400" b="0" u="none" strike="noStrike">
              <a:solidFill>
                <a:srgbClr val="000000"/>
              </a:solidFill>
              <a:effectLst/>
              <a:uFillTx/>
              <a:latin typeface="OpenSymbol"/>
            </a:endParaRPr>
          </a:p>
        </p:txBody>
      </p:sp>
      <p:sp>
        <p:nvSpPr>
          <p:cNvPr id="53" name="Rectangle 52"/>
          <p:cNvSpPr/>
          <p:nvPr/>
        </p:nvSpPr>
        <p:spPr>
          <a:xfrm>
            <a:off x="1838160" y="2619360"/>
            <a:ext cx="124740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arial"/>
              </a:rPr>
              <a:t>Use controls at least 44px and ample spacing for accuracy.</a:t>
            </a:r>
            <a:endParaRPr lang="en-US" sz="1200" b="0" u="none" strike="noStrike">
              <a:solidFill>
                <a:srgbClr val="000000"/>
              </a:solidFill>
              <a:effectLst/>
              <a:uFillTx/>
              <a:latin typeface="OpenSymbol"/>
            </a:endParaRPr>
          </a:p>
        </p:txBody>
      </p:sp>
      <p:sp>
        <p:nvSpPr>
          <p:cNvPr id="54" name="Rectangle 53"/>
          <p:cNvSpPr/>
          <p:nvPr/>
        </p:nvSpPr>
        <p:spPr>
          <a:xfrm>
            <a:off x="320040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Radio Canada Big"/>
              </a:rPr>
              <a:t>Thumb Reach</a:t>
            </a:r>
            <a:endParaRPr lang="en-US" sz="1400" b="0" u="none" strike="noStrike">
              <a:solidFill>
                <a:srgbClr val="000000"/>
              </a:solidFill>
              <a:effectLst/>
              <a:uFillTx/>
              <a:latin typeface="OpenSymbol"/>
            </a:endParaRPr>
          </a:p>
        </p:txBody>
      </p:sp>
      <p:sp>
        <p:nvSpPr>
          <p:cNvPr id="55" name="Rectangle 54"/>
          <p:cNvSpPr/>
          <p:nvPr/>
        </p:nvSpPr>
        <p:spPr>
          <a:xfrm>
            <a:off x="3200400" y="2619360"/>
            <a:ext cx="124740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arial"/>
              </a:rPr>
              <a:t>Place primary actions within the thumb’s reach (bottom or center).</a:t>
            </a:r>
            <a:endParaRPr lang="en-US" sz="1200" b="0" u="none" strike="noStrike">
              <a:solidFill>
                <a:srgbClr val="000000"/>
              </a:solidFill>
              <a:effectLst/>
              <a:uFillTx/>
              <a:latin typeface="OpenSymbol"/>
            </a:endParaRPr>
          </a:p>
        </p:txBody>
      </p:sp>
      <p:sp>
        <p:nvSpPr>
          <p:cNvPr id="56" name="Rectangle 55"/>
          <p:cNvSpPr/>
          <p:nvPr/>
        </p:nvSpPr>
        <p:spPr>
          <a:xfrm>
            <a:off x="4562640" y="1219320"/>
            <a:ext cx="124740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Radio Canada Big"/>
              </a:rPr>
              <a:t>Legibility</a:t>
            </a:r>
            <a:endParaRPr lang="en-US" sz="1400" b="0" u="none" strike="noStrike">
              <a:solidFill>
                <a:srgbClr val="000000"/>
              </a:solidFill>
              <a:effectLst/>
              <a:uFillTx/>
              <a:latin typeface="OpenSymbol"/>
            </a:endParaRPr>
          </a:p>
        </p:txBody>
      </p:sp>
      <p:sp>
        <p:nvSpPr>
          <p:cNvPr id="57" name="Rectangle 56"/>
          <p:cNvSpPr/>
          <p:nvPr/>
        </p:nvSpPr>
        <p:spPr>
          <a:xfrm>
            <a:off x="4562640" y="2619360"/>
            <a:ext cx="124740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arial"/>
              </a:rPr>
              <a:t>Choose readable fonts with high contrast for accessibility.</a:t>
            </a:r>
            <a:endParaRPr lang="en-US" sz="1200" b="0" u="none" strike="noStrike">
              <a:solidFill>
                <a:srgbClr val="000000"/>
              </a:solidFill>
              <a:effectLst/>
              <a:uFillTx/>
              <a:latin typeface="OpenSymbol"/>
            </a:endParaRPr>
          </a:p>
        </p:txBody>
      </p:sp>
      <p:sp>
        <p:nvSpPr>
          <p:cNvPr id="58" name="Rectangle 57"/>
          <p:cNvSpPr/>
          <p:nvPr/>
        </p:nvSpPr>
        <p:spPr>
          <a:xfrm>
            <a:off x="592452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Radio Canada Big"/>
              </a:rPr>
              <a:t>Platform Patterns</a:t>
            </a:r>
            <a:endParaRPr lang="en-US" sz="1400" b="0" u="none" strike="noStrike">
              <a:solidFill>
                <a:srgbClr val="000000"/>
              </a:solidFill>
              <a:effectLst/>
              <a:uFillTx/>
              <a:latin typeface="OpenSymbol"/>
            </a:endParaRPr>
          </a:p>
        </p:txBody>
      </p:sp>
      <p:sp>
        <p:nvSpPr>
          <p:cNvPr id="59" name="Rectangle 58"/>
          <p:cNvSpPr/>
          <p:nvPr/>
        </p:nvSpPr>
        <p:spPr>
          <a:xfrm>
            <a:off x="5924520" y="2619360"/>
            <a:ext cx="124740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arial"/>
              </a:rPr>
              <a:t>Follow Android Material vs iOS Human Interface Guidelines for familiar patterns.</a:t>
            </a:r>
            <a:endParaRPr lang="en-US" sz="1200" b="0" u="none" strike="noStrike">
              <a:solidFill>
                <a:srgbClr val="000000"/>
              </a:solidFill>
              <a:effectLst/>
              <a:uFillTx/>
              <a:latin typeface="OpenSymbol"/>
            </a:endParaRPr>
          </a:p>
        </p:txBody>
      </p:sp>
      <p:sp>
        <p:nvSpPr>
          <p:cNvPr id="60" name="Rectangle 59"/>
          <p:cNvSpPr/>
          <p:nvPr/>
        </p:nvSpPr>
        <p:spPr>
          <a:xfrm>
            <a:off x="728676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Radio Canada Big"/>
              </a:rPr>
              <a:t>Graceful States</a:t>
            </a:r>
            <a:endParaRPr lang="en-US" sz="1400" b="0" u="none" strike="noStrike">
              <a:solidFill>
                <a:srgbClr val="000000"/>
              </a:solidFill>
              <a:effectLst/>
              <a:uFillTx/>
              <a:latin typeface="OpenSymbol"/>
            </a:endParaRPr>
          </a:p>
        </p:txBody>
      </p:sp>
      <p:sp>
        <p:nvSpPr>
          <p:cNvPr id="61" name="Rectangle 60"/>
          <p:cNvSpPr/>
          <p:nvPr/>
        </p:nvSpPr>
        <p:spPr>
          <a:xfrm>
            <a:off x="7286760" y="2619360"/>
            <a:ext cx="1247400" cy="1247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arial"/>
              </a:rPr>
              <a:t>Plan loading, offline, and error states with skeletons and retry options.</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Rounded Corners 61"/>
          <p:cNvSpPr/>
          <p:nvPr/>
        </p:nvSpPr>
        <p:spPr>
          <a:xfrm>
            <a:off x="476280" y="1866960"/>
            <a:ext cx="1914120" cy="280008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3" name="Rectangle: Rounded Corners 62"/>
          <p:cNvSpPr/>
          <p:nvPr/>
        </p:nvSpPr>
        <p:spPr>
          <a:xfrm>
            <a:off x="2523960" y="1866960"/>
            <a:ext cx="1914120" cy="280008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4" name="Rectangle: Rounded Corners 63"/>
          <p:cNvSpPr/>
          <p:nvPr/>
        </p:nvSpPr>
        <p:spPr>
          <a:xfrm>
            <a:off x="4572000" y="1866960"/>
            <a:ext cx="1914120" cy="280008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5" name="Rectangle: Rounded Corners 64"/>
          <p:cNvSpPr/>
          <p:nvPr/>
        </p:nvSpPr>
        <p:spPr>
          <a:xfrm>
            <a:off x="6620040" y="1866960"/>
            <a:ext cx="1914120" cy="280008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6" name="Rectangle 65"/>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0" u="none" strike="noStrike">
                <a:solidFill>
                  <a:srgbClr val="191919"/>
                </a:solidFill>
                <a:effectLst/>
                <a:uFillTx/>
                <a:latin typeface="Radio Canada Big"/>
              </a:rPr>
              <a:t>UI/UX Process</a:t>
            </a:r>
            <a:endParaRPr lang="en-US" sz="2600" b="0" u="none" strike="noStrike">
              <a:solidFill>
                <a:srgbClr val="000000"/>
              </a:solidFill>
              <a:effectLst/>
              <a:uFillTx/>
              <a:latin typeface="OpenSymbol"/>
            </a:endParaRPr>
          </a:p>
        </p:txBody>
      </p:sp>
      <p:sp>
        <p:nvSpPr>
          <p:cNvPr id="67" name="Rectangle 66"/>
          <p:cNvSpPr/>
          <p:nvPr/>
        </p:nvSpPr>
        <p:spPr>
          <a:xfrm>
            <a:off x="47628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191919"/>
                </a:solidFill>
                <a:effectLst/>
                <a:uFillTx/>
                <a:latin typeface="Radio Canada Big"/>
              </a:rPr>
              <a:t>01</a:t>
            </a:r>
            <a:endParaRPr lang="en-US" sz="2400" b="0" u="none" strike="noStrike">
              <a:solidFill>
                <a:srgbClr val="000000"/>
              </a:solidFill>
              <a:effectLst/>
              <a:uFillTx/>
              <a:latin typeface="OpenSymbol"/>
            </a:endParaRPr>
          </a:p>
        </p:txBody>
      </p:sp>
      <p:sp>
        <p:nvSpPr>
          <p:cNvPr id="68" name="Rectangle 67"/>
          <p:cNvSpPr/>
          <p:nvPr/>
        </p:nvSpPr>
        <p:spPr>
          <a:xfrm>
            <a:off x="66672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EEEEEE"/>
                </a:solidFill>
                <a:effectLst/>
                <a:uFillTx/>
                <a:latin typeface="Radio Canada Big"/>
              </a:rPr>
              <a:t>User Research</a:t>
            </a:r>
            <a:endParaRPr lang="en-US" sz="1800" b="0" u="none" strike="noStrike">
              <a:solidFill>
                <a:srgbClr val="000000"/>
              </a:solidFill>
              <a:effectLst/>
              <a:uFillTx/>
              <a:latin typeface="OpenSymbol"/>
            </a:endParaRPr>
          </a:p>
        </p:txBody>
      </p:sp>
      <p:sp>
        <p:nvSpPr>
          <p:cNvPr id="69" name="Rectangle 68"/>
          <p:cNvSpPr/>
          <p:nvPr/>
        </p:nvSpPr>
        <p:spPr>
          <a:xfrm>
            <a:off x="666720" y="2666880"/>
            <a:ext cx="153324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EEEEEE"/>
                </a:solidFill>
                <a:effectLst/>
                <a:uFillTx/>
                <a:latin typeface="arial"/>
              </a:rPr>
              <a:t>Interviews and analytics review to understand user needs and behavior.</a:t>
            </a:r>
            <a:endParaRPr lang="en-US" sz="1200" b="0" u="none" strike="noStrike">
              <a:solidFill>
                <a:srgbClr val="000000"/>
              </a:solidFill>
              <a:effectLst/>
              <a:uFillTx/>
              <a:latin typeface="OpenSymbol"/>
            </a:endParaRPr>
          </a:p>
        </p:txBody>
      </p:sp>
      <p:sp>
        <p:nvSpPr>
          <p:cNvPr id="70" name="Rectangle 69"/>
          <p:cNvSpPr/>
          <p:nvPr/>
        </p:nvSpPr>
        <p:spPr>
          <a:xfrm>
            <a:off x="252396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191919"/>
                </a:solidFill>
                <a:effectLst/>
                <a:uFillTx/>
                <a:latin typeface="Radio Canada Big"/>
              </a:rPr>
              <a:t>02</a:t>
            </a:r>
            <a:endParaRPr lang="en-US" sz="2400" b="0" u="none" strike="noStrike">
              <a:solidFill>
                <a:srgbClr val="000000"/>
              </a:solidFill>
              <a:effectLst/>
              <a:uFillTx/>
              <a:latin typeface="OpenSymbol"/>
            </a:endParaRPr>
          </a:p>
        </p:txBody>
      </p:sp>
      <p:sp>
        <p:nvSpPr>
          <p:cNvPr id="71" name="Rectangle 70"/>
          <p:cNvSpPr/>
          <p:nvPr/>
        </p:nvSpPr>
        <p:spPr>
          <a:xfrm>
            <a:off x="271476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EEEEEE"/>
                </a:solidFill>
                <a:effectLst/>
                <a:uFillTx/>
                <a:latin typeface="Radio Canada Big"/>
              </a:rPr>
              <a:t>Define Problems</a:t>
            </a:r>
            <a:endParaRPr lang="en-US" sz="1800" b="0" u="none" strike="noStrike">
              <a:solidFill>
                <a:srgbClr val="000000"/>
              </a:solidFill>
              <a:effectLst/>
              <a:uFillTx/>
              <a:latin typeface="OpenSymbol"/>
            </a:endParaRPr>
          </a:p>
        </p:txBody>
      </p:sp>
      <p:sp>
        <p:nvSpPr>
          <p:cNvPr id="72" name="Rectangle 71"/>
          <p:cNvSpPr/>
          <p:nvPr/>
        </p:nvSpPr>
        <p:spPr>
          <a:xfrm>
            <a:off x="2714760" y="2666880"/>
            <a:ext cx="153324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EEEEEE"/>
                </a:solidFill>
                <a:effectLst/>
                <a:uFillTx/>
                <a:latin typeface="arial"/>
              </a:rPr>
              <a:t>Prioritize pain points to clarify what the product must solve.</a:t>
            </a:r>
            <a:endParaRPr lang="en-US" sz="1200" b="0" u="none" strike="noStrike">
              <a:solidFill>
                <a:srgbClr val="000000"/>
              </a:solidFill>
              <a:effectLst/>
              <a:uFillTx/>
              <a:latin typeface="OpenSymbol"/>
            </a:endParaRPr>
          </a:p>
        </p:txBody>
      </p:sp>
      <p:sp>
        <p:nvSpPr>
          <p:cNvPr id="73" name="Rectangle 72"/>
          <p:cNvSpPr/>
          <p:nvPr/>
        </p:nvSpPr>
        <p:spPr>
          <a:xfrm>
            <a:off x="457200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191919"/>
                </a:solidFill>
                <a:effectLst/>
                <a:uFillTx/>
                <a:latin typeface="Radio Canada Big"/>
              </a:rPr>
              <a:t>03</a:t>
            </a:r>
            <a:endParaRPr lang="en-US" sz="2400" b="0" u="none" strike="noStrike">
              <a:solidFill>
                <a:srgbClr val="000000"/>
              </a:solidFill>
              <a:effectLst/>
              <a:uFillTx/>
              <a:latin typeface="OpenSymbol"/>
            </a:endParaRPr>
          </a:p>
        </p:txBody>
      </p:sp>
      <p:sp>
        <p:nvSpPr>
          <p:cNvPr id="74" name="Rectangle 73"/>
          <p:cNvSpPr/>
          <p:nvPr/>
        </p:nvSpPr>
        <p:spPr>
          <a:xfrm>
            <a:off x="476244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EEEEEE"/>
                </a:solidFill>
                <a:effectLst/>
                <a:uFillTx/>
                <a:latin typeface="Radio Canada Big"/>
              </a:rPr>
              <a:t>Create Personas</a:t>
            </a:r>
            <a:endParaRPr lang="en-US" sz="1800" b="0" u="none" strike="noStrike">
              <a:solidFill>
                <a:srgbClr val="000000"/>
              </a:solidFill>
              <a:effectLst/>
              <a:uFillTx/>
              <a:latin typeface="OpenSymbol"/>
            </a:endParaRPr>
          </a:p>
        </p:txBody>
      </p:sp>
      <p:sp>
        <p:nvSpPr>
          <p:cNvPr id="75" name="Rectangle 74"/>
          <p:cNvSpPr/>
          <p:nvPr/>
        </p:nvSpPr>
        <p:spPr>
          <a:xfrm>
            <a:off x="4762440" y="2666880"/>
            <a:ext cx="153324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EEEEEE"/>
                </a:solidFill>
                <a:effectLst/>
                <a:uFillTx/>
                <a:latin typeface="arial"/>
              </a:rPr>
              <a:t>Build representative user types to guide decisions.</a:t>
            </a:r>
            <a:endParaRPr lang="en-US" sz="1200" b="0" u="none" strike="noStrike">
              <a:solidFill>
                <a:srgbClr val="000000"/>
              </a:solidFill>
              <a:effectLst/>
              <a:uFillTx/>
              <a:latin typeface="OpenSymbol"/>
            </a:endParaRPr>
          </a:p>
        </p:txBody>
      </p:sp>
      <p:sp>
        <p:nvSpPr>
          <p:cNvPr id="76" name="Rectangle 75"/>
          <p:cNvSpPr/>
          <p:nvPr/>
        </p:nvSpPr>
        <p:spPr>
          <a:xfrm>
            <a:off x="662004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191919"/>
                </a:solidFill>
                <a:effectLst/>
                <a:uFillTx/>
                <a:latin typeface="Radio Canada Big"/>
              </a:rPr>
              <a:t>04</a:t>
            </a:r>
            <a:endParaRPr lang="en-US" sz="2400" b="0" u="none" strike="noStrike">
              <a:solidFill>
                <a:srgbClr val="000000"/>
              </a:solidFill>
              <a:effectLst/>
              <a:uFillTx/>
              <a:latin typeface="OpenSymbol"/>
            </a:endParaRPr>
          </a:p>
        </p:txBody>
      </p:sp>
      <p:sp>
        <p:nvSpPr>
          <p:cNvPr id="77" name="Rectangle 76"/>
          <p:cNvSpPr/>
          <p:nvPr/>
        </p:nvSpPr>
        <p:spPr>
          <a:xfrm>
            <a:off x="681048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EEEEEE"/>
                </a:solidFill>
                <a:effectLst/>
                <a:uFillTx/>
                <a:latin typeface="Radio Canada Big"/>
              </a:rPr>
              <a:t>Build User Flows</a:t>
            </a:r>
            <a:endParaRPr lang="en-US" sz="1800" b="0" u="none" strike="noStrike">
              <a:solidFill>
                <a:srgbClr val="000000"/>
              </a:solidFill>
              <a:effectLst/>
              <a:uFillTx/>
              <a:latin typeface="OpenSymbol"/>
            </a:endParaRPr>
          </a:p>
        </p:txBody>
      </p:sp>
      <p:sp>
        <p:nvSpPr>
          <p:cNvPr id="78" name="Rectangle 77"/>
          <p:cNvSpPr/>
          <p:nvPr/>
        </p:nvSpPr>
        <p:spPr>
          <a:xfrm>
            <a:off x="6810480" y="266688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EEEEEE"/>
                </a:solidFill>
                <a:effectLst/>
                <a:uFillTx/>
                <a:latin typeface="arial"/>
              </a:rPr>
              <a:t>Map tasks end-to-end to reveal paths and touchpoints.</a:t>
            </a:r>
            <a:endParaRPr lang="en-US" sz="12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Rounded Corners 78"/>
          <p:cNvSpPr/>
          <p:nvPr/>
        </p:nvSpPr>
        <p:spPr>
          <a:xfrm>
            <a:off x="3610080" y="628560"/>
            <a:ext cx="9000" cy="38858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0" name="Rectangle: Rounded Corners 79"/>
          <p:cNvSpPr/>
          <p:nvPr/>
        </p:nvSpPr>
        <p:spPr>
          <a:xfrm>
            <a:off x="3143160" y="324000"/>
            <a:ext cx="952200" cy="3045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1" name="Rectangle: Rounded Corners 80"/>
          <p:cNvSpPr/>
          <p:nvPr/>
        </p:nvSpPr>
        <p:spPr>
          <a:xfrm>
            <a:off x="3143160" y="4514760"/>
            <a:ext cx="952200" cy="3045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2" name="Rectangle 81"/>
          <p:cNvSpPr/>
          <p:nvPr/>
        </p:nvSpPr>
        <p:spPr>
          <a:xfrm>
            <a:off x="3610080" y="1000080"/>
            <a:ext cx="561600" cy="900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3" name="Isosceles Triangle 82"/>
          <p:cNvSpPr/>
          <p:nvPr/>
        </p:nvSpPr>
        <p:spPr>
          <a:xfrm rot="5400000">
            <a:off x="4172040" y="961920"/>
            <a:ext cx="75960" cy="75960"/>
          </a:xfrm>
          <a:prstGeom prst="triangle">
            <a:avLst>
              <a:gd name="adj" fmla="val 50000"/>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4" name="Rectangle 83"/>
          <p:cNvSpPr/>
          <p:nvPr/>
        </p:nvSpPr>
        <p:spPr>
          <a:xfrm>
            <a:off x="3610080" y="2048040"/>
            <a:ext cx="561600" cy="900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5" name="Isosceles Triangle 84"/>
          <p:cNvSpPr/>
          <p:nvPr/>
        </p:nvSpPr>
        <p:spPr>
          <a:xfrm rot="5400000">
            <a:off x="4172040" y="2009880"/>
            <a:ext cx="75960" cy="75960"/>
          </a:xfrm>
          <a:prstGeom prst="triangle">
            <a:avLst>
              <a:gd name="adj" fmla="val 50000"/>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6" name="Rectangle 85"/>
          <p:cNvSpPr/>
          <p:nvPr/>
        </p:nvSpPr>
        <p:spPr>
          <a:xfrm>
            <a:off x="3610080" y="3095640"/>
            <a:ext cx="561600" cy="900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7" name="Isosceles Triangle 86"/>
          <p:cNvSpPr/>
          <p:nvPr/>
        </p:nvSpPr>
        <p:spPr>
          <a:xfrm rot="5400000">
            <a:off x="4172040" y="3057480"/>
            <a:ext cx="75960" cy="75960"/>
          </a:xfrm>
          <a:prstGeom prst="triangle">
            <a:avLst>
              <a:gd name="adj" fmla="val 50000"/>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8" name="Rectangle 87"/>
          <p:cNvSpPr/>
          <p:nvPr/>
        </p:nvSpPr>
        <p:spPr>
          <a:xfrm>
            <a:off x="3610080" y="4143240"/>
            <a:ext cx="561600" cy="900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89" name="Isosceles Triangle 88"/>
          <p:cNvSpPr/>
          <p:nvPr/>
        </p:nvSpPr>
        <p:spPr>
          <a:xfrm rot="5400000">
            <a:off x="4172040" y="4105440"/>
            <a:ext cx="75960" cy="75960"/>
          </a:xfrm>
          <a:prstGeom prst="triangle">
            <a:avLst>
              <a:gd name="adj" fmla="val 50000"/>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90" name="Rectangle 89"/>
          <p:cNvSpPr/>
          <p:nvPr/>
        </p:nvSpPr>
        <p:spPr>
          <a:xfrm>
            <a:off x="476280" y="324000"/>
            <a:ext cx="228564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0" u="none" strike="noStrike">
                <a:solidFill>
                  <a:srgbClr val="191919"/>
                </a:solidFill>
                <a:effectLst/>
                <a:uFillTx/>
                <a:latin typeface="Radio Canada Big"/>
              </a:rPr>
              <a:t>UI/UX Process</a:t>
            </a:r>
            <a:endParaRPr lang="en-US" sz="2600" b="0" u="none" strike="noStrike">
              <a:solidFill>
                <a:srgbClr val="000000"/>
              </a:solidFill>
              <a:effectLst/>
              <a:uFillTx/>
              <a:latin typeface="OpenSymbol"/>
            </a:endParaRPr>
          </a:p>
        </p:txBody>
      </p:sp>
      <p:sp>
        <p:nvSpPr>
          <p:cNvPr id="91" name="Rectangle 90"/>
          <p:cNvSpPr/>
          <p:nvPr/>
        </p:nvSpPr>
        <p:spPr>
          <a:xfrm>
            <a:off x="4476600" y="714240"/>
            <a:ext cx="152352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Research</a:t>
            </a:r>
            <a:endParaRPr lang="en-US" sz="1400" b="0" u="none" strike="noStrike">
              <a:solidFill>
                <a:srgbClr val="000000"/>
              </a:solidFill>
              <a:effectLst/>
              <a:uFillTx/>
              <a:latin typeface="OpenSymbol"/>
            </a:endParaRPr>
          </a:p>
        </p:txBody>
      </p:sp>
      <p:sp>
        <p:nvSpPr>
          <p:cNvPr id="92" name="Rectangle 91"/>
          <p:cNvSpPr/>
          <p:nvPr/>
        </p:nvSpPr>
        <p:spPr>
          <a:xfrm>
            <a:off x="6191280" y="542880"/>
            <a:ext cx="2476080" cy="5522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92500"/>
          </a:bodyPr>
          <a:lstStyle/>
          <a:p>
            <a:pPr defTabSz="914400">
              <a:lnSpc>
                <a:spcPct val="100000"/>
              </a:lnSpc>
              <a:tabLst>
                <a:tab pos="0" algn="l"/>
              </a:tabLst>
            </a:pPr>
            <a:r>
              <a:rPr lang="en-US" sz="1200" b="0" u="none" strike="noStrike">
                <a:solidFill>
                  <a:srgbClr val="191919"/>
                </a:solidFill>
                <a:effectLst/>
                <a:uFillTx/>
                <a:latin typeface="arial"/>
              </a:rPr>
              <a:t>Interviews and analytics review to understand user needs and patterns.</a:t>
            </a:r>
            <a:endParaRPr lang="en-US" sz="1200" b="0" u="none" strike="noStrike">
              <a:solidFill>
                <a:srgbClr val="000000"/>
              </a:solidFill>
              <a:effectLst/>
              <a:uFillTx/>
              <a:latin typeface="OpenSymbol"/>
            </a:endParaRPr>
          </a:p>
        </p:txBody>
      </p:sp>
      <p:sp>
        <p:nvSpPr>
          <p:cNvPr id="93" name="Rectangle 92"/>
          <p:cNvSpPr/>
          <p:nvPr/>
        </p:nvSpPr>
        <p:spPr>
          <a:xfrm>
            <a:off x="4476600" y="1762200"/>
            <a:ext cx="152352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Define</a:t>
            </a:r>
            <a:endParaRPr lang="en-US" sz="1400" b="0" u="none" strike="noStrike">
              <a:solidFill>
                <a:srgbClr val="000000"/>
              </a:solidFill>
              <a:effectLst/>
              <a:uFillTx/>
              <a:latin typeface="OpenSymbol"/>
            </a:endParaRPr>
          </a:p>
        </p:txBody>
      </p:sp>
      <p:sp>
        <p:nvSpPr>
          <p:cNvPr id="94" name="Rectangle 93"/>
          <p:cNvSpPr/>
          <p:nvPr/>
        </p:nvSpPr>
        <p:spPr>
          <a:xfrm>
            <a:off x="6191280" y="1590840"/>
            <a:ext cx="24760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Prioritize pain points to frame the design challenge.</a:t>
            </a:r>
            <a:endParaRPr lang="en-US" sz="1200" b="0" u="none" strike="noStrike">
              <a:solidFill>
                <a:srgbClr val="000000"/>
              </a:solidFill>
              <a:effectLst/>
              <a:uFillTx/>
              <a:latin typeface="OpenSymbol"/>
            </a:endParaRPr>
          </a:p>
        </p:txBody>
      </p:sp>
      <p:sp>
        <p:nvSpPr>
          <p:cNvPr id="95" name="Rectangle 94"/>
          <p:cNvSpPr/>
          <p:nvPr/>
        </p:nvSpPr>
        <p:spPr>
          <a:xfrm>
            <a:off x="4476600" y="2809800"/>
            <a:ext cx="152352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Personas</a:t>
            </a:r>
            <a:endParaRPr lang="en-US" sz="1400" b="0" u="none" strike="noStrike">
              <a:solidFill>
                <a:srgbClr val="000000"/>
              </a:solidFill>
              <a:effectLst/>
              <a:uFillTx/>
              <a:latin typeface="OpenSymbol"/>
            </a:endParaRPr>
          </a:p>
        </p:txBody>
      </p:sp>
      <p:sp>
        <p:nvSpPr>
          <p:cNvPr id="96" name="Rectangle 95"/>
          <p:cNvSpPr/>
          <p:nvPr/>
        </p:nvSpPr>
        <p:spPr>
          <a:xfrm>
            <a:off x="6191280" y="2638440"/>
            <a:ext cx="24760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Create representative user types to guide decisions.</a:t>
            </a:r>
            <a:endParaRPr lang="en-US" sz="1200" b="0" u="none" strike="noStrike">
              <a:solidFill>
                <a:srgbClr val="000000"/>
              </a:solidFill>
              <a:effectLst/>
              <a:uFillTx/>
              <a:latin typeface="OpenSymbol"/>
            </a:endParaRPr>
          </a:p>
        </p:txBody>
      </p:sp>
      <p:sp>
        <p:nvSpPr>
          <p:cNvPr id="97" name="Rectangle 96"/>
          <p:cNvSpPr/>
          <p:nvPr/>
        </p:nvSpPr>
        <p:spPr>
          <a:xfrm>
            <a:off x="4476600" y="3857760"/>
            <a:ext cx="152352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Flows</a:t>
            </a:r>
            <a:endParaRPr lang="en-US" sz="1400" b="0" u="none" strike="noStrike">
              <a:solidFill>
                <a:srgbClr val="000000"/>
              </a:solidFill>
              <a:effectLst/>
              <a:uFillTx/>
              <a:latin typeface="OpenSymbol"/>
            </a:endParaRPr>
          </a:p>
        </p:txBody>
      </p:sp>
      <p:sp>
        <p:nvSpPr>
          <p:cNvPr id="98" name="Rectangle 97"/>
          <p:cNvSpPr/>
          <p:nvPr/>
        </p:nvSpPr>
        <p:spPr>
          <a:xfrm>
            <a:off x="6191280" y="3686040"/>
            <a:ext cx="24760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Map tasks end-to-end to reveal friction points.</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Rectangle: Rounded Corners 98"/>
          <p:cNvSpPr/>
          <p:nvPr/>
        </p:nvSpPr>
        <p:spPr>
          <a:xfrm>
            <a:off x="476280" y="1238400"/>
            <a:ext cx="3904920" cy="29523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0" name="Rectangle: Rounded Corners 99"/>
          <p:cNvSpPr/>
          <p:nvPr/>
        </p:nvSpPr>
        <p:spPr>
          <a:xfrm>
            <a:off x="4762440" y="1238400"/>
            <a:ext cx="3904920" cy="2952360"/>
          </a:xfrm>
          <a:prstGeom prst="roundRect">
            <a:avLst>
              <a:gd name="adj" fmla="val 16667"/>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1" name="Rectangle 100"/>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191919"/>
                </a:solidFill>
                <a:effectLst/>
                <a:uFillTx/>
                <a:latin typeface="Radio Canada Big"/>
              </a:rPr>
              <a:t>Structure vs Interaction</a:t>
            </a:r>
            <a:endParaRPr lang="en-US" sz="2400" b="0" u="none" strike="noStrike">
              <a:solidFill>
                <a:srgbClr val="000000"/>
              </a:solidFill>
              <a:effectLst/>
              <a:uFillTx/>
              <a:latin typeface="OpenSymbol"/>
            </a:endParaRPr>
          </a:p>
        </p:txBody>
      </p:sp>
      <p:sp>
        <p:nvSpPr>
          <p:cNvPr id="102" name="Rectangle 101"/>
          <p:cNvSpPr/>
          <p:nvPr/>
        </p:nvSpPr>
        <p:spPr>
          <a:xfrm>
            <a:off x="612114" y="1735579"/>
            <a:ext cx="3529190" cy="185501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dirty="0">
                <a:solidFill>
                  <a:srgbClr val="EEEEEE"/>
                </a:solidFill>
                <a:effectLst/>
                <a:uFillTx/>
                <a:latin typeface="arial"/>
              </a:rPr>
              <a:t>Low-fidelity wireframes use simple sketches or greyscale blocks to test layout and flow quickly. They focus on information hierarchy, navigation paths, and content placement without getting hung up on visuals. Use paper or digital tools to iterate fast.</a:t>
            </a:r>
            <a:endParaRPr lang="en-US" sz="1200" b="0" u="none" strike="noStrike" dirty="0">
              <a:solidFill>
                <a:srgbClr val="000000"/>
              </a:solidFill>
              <a:effectLst/>
              <a:uFillTx/>
              <a:latin typeface="OpenSymbol"/>
            </a:endParaRPr>
          </a:p>
        </p:txBody>
      </p:sp>
      <p:sp>
        <p:nvSpPr>
          <p:cNvPr id="103" name="Rectangle 102"/>
          <p:cNvSpPr/>
          <p:nvPr/>
        </p:nvSpPr>
        <p:spPr>
          <a:xfrm>
            <a:off x="4924778" y="1735579"/>
            <a:ext cx="3607107" cy="137868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dirty="0">
                <a:solidFill>
                  <a:srgbClr val="EEEEEE"/>
                </a:solidFill>
                <a:effectLst/>
                <a:uFillTx/>
                <a:latin typeface="arial"/>
              </a:rPr>
              <a:t>High-fidelity prototypes are pixel-accurate screens with interactive elements. They validate microcopy, animations, and usability in a realistic context, helping stakeholders feel the product.</a:t>
            </a:r>
            <a:endParaRPr lang="en-US" sz="1200" b="0" u="none" strike="noStrike" dirty="0">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04"/>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191919"/>
                </a:solidFill>
                <a:effectLst/>
                <a:uFillTx/>
                <a:latin typeface="Radio Canada Big"/>
              </a:rPr>
              <a:t>Pick the right tool by task</a:t>
            </a:r>
            <a:endParaRPr lang="en-US" sz="2400" b="0" u="none" strike="noStrike">
              <a:solidFill>
                <a:srgbClr val="000000"/>
              </a:solidFill>
              <a:effectLst/>
              <a:uFillTx/>
              <a:latin typeface="OpenSymbol"/>
            </a:endParaRPr>
          </a:p>
        </p:txBody>
      </p:sp>
      <p:sp>
        <p:nvSpPr>
          <p:cNvPr id="106" name="Rectangle 105"/>
          <p:cNvSpPr/>
          <p:nvPr/>
        </p:nvSpPr>
        <p:spPr>
          <a:xfrm>
            <a:off x="476280" y="1571760"/>
            <a:ext cx="3904920" cy="2091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1400" b="1" u="none" strike="noStrike" dirty="0">
                <a:solidFill>
                  <a:srgbClr val="191919"/>
                </a:solidFill>
                <a:effectLst/>
                <a:uFillTx/>
                <a:latin typeface="arial"/>
              </a:rPr>
              <a:t>Figma &amp; </a:t>
            </a:r>
            <a:r>
              <a:rPr lang="en-US" sz="1400" b="1" u="none" strike="noStrike" dirty="0" err="1">
                <a:solidFill>
                  <a:srgbClr val="191919"/>
                </a:solidFill>
                <a:effectLst/>
                <a:uFillTx/>
                <a:latin typeface="arial"/>
              </a:rPr>
              <a:t>FigJam</a:t>
            </a:r>
            <a:endParaRPr lang="en-US" sz="1400" b="0" u="none" strike="noStrike" dirty="0">
              <a:solidFill>
                <a:srgbClr val="000000"/>
              </a:solidFill>
              <a:effectLst/>
              <a:uFillTx/>
              <a:latin typeface="OpenSymbol"/>
            </a:endParaRPr>
          </a:p>
        </p:txBody>
      </p:sp>
      <p:sp>
        <p:nvSpPr>
          <p:cNvPr id="107" name="Rectangle 106"/>
          <p:cNvSpPr/>
          <p:nvPr/>
        </p:nvSpPr>
        <p:spPr>
          <a:xfrm>
            <a:off x="476280" y="2095559"/>
            <a:ext cx="3904920" cy="2271031"/>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600" b="0" u="none" strike="noStrike" dirty="0">
                <a:solidFill>
                  <a:srgbClr val="191919"/>
                </a:solidFill>
                <a:effectLst/>
                <a:uFillTx/>
                <a:latin typeface="arial"/>
              </a:rPr>
              <a:t>Figma: cloud-based interface design and prototyping with real-time </a:t>
            </a:r>
            <a:r>
              <a:rPr lang="en-US" b="0" u="none" strike="noStrike" dirty="0">
                <a:solidFill>
                  <a:srgbClr val="191919"/>
                </a:solidFill>
                <a:effectLst/>
                <a:uFillTx/>
                <a:latin typeface="arial"/>
              </a:rPr>
              <a:t>collaboration</a:t>
            </a:r>
            <a:r>
              <a:rPr lang="en-US" sz="1600" b="0" u="none" strike="noStrike" dirty="0">
                <a:solidFill>
                  <a:srgbClr val="191919"/>
                </a:solidFill>
                <a:effectLst/>
                <a:uFillTx/>
                <a:latin typeface="arial"/>
              </a:rPr>
              <a:t>. </a:t>
            </a:r>
            <a:r>
              <a:rPr lang="en-US" sz="1600" b="0" u="none" strike="noStrike" dirty="0" err="1">
                <a:solidFill>
                  <a:srgbClr val="191919"/>
                </a:solidFill>
                <a:effectLst/>
                <a:uFillTx/>
                <a:latin typeface="arial"/>
              </a:rPr>
              <a:t>FigJam</a:t>
            </a:r>
            <a:r>
              <a:rPr lang="en-US" sz="1600" b="0" u="none" strike="noStrike" dirty="0">
                <a:solidFill>
                  <a:srgbClr val="191919"/>
                </a:solidFill>
                <a:effectLst/>
                <a:uFillTx/>
                <a:latin typeface="arial"/>
              </a:rPr>
              <a:t>: whiteboard for brainstorming, flow mapping, and workshops.</a:t>
            </a:r>
            <a:endParaRPr lang="en-US" sz="1600" b="0" u="none" strike="noStrike" dirty="0">
              <a:solidFill>
                <a:srgbClr val="000000"/>
              </a:solidFill>
              <a:effectLst/>
              <a:uFillTx/>
              <a:latin typeface="OpenSymbol"/>
            </a:endParaRPr>
          </a:p>
        </p:txBody>
      </p:sp>
      <p:sp>
        <p:nvSpPr>
          <p:cNvPr id="108" name="Rectangle 107"/>
          <p:cNvSpPr/>
          <p:nvPr/>
        </p:nvSpPr>
        <p:spPr>
          <a:xfrm>
            <a:off x="4571820" y="1571579"/>
            <a:ext cx="3904920" cy="52397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1" u="none" strike="noStrike" dirty="0">
                <a:solidFill>
                  <a:srgbClr val="191919"/>
                </a:solidFill>
                <a:effectLst/>
                <a:uFillTx/>
                <a:latin typeface="arial"/>
              </a:rPr>
              <a:t>Sketch, XD, Canva</a:t>
            </a:r>
            <a:endParaRPr lang="en-US" sz="1400" b="0" u="none" strike="noStrike" dirty="0">
              <a:solidFill>
                <a:srgbClr val="000000"/>
              </a:solidFill>
              <a:effectLst/>
              <a:uFillTx/>
              <a:latin typeface="OpenSymbol"/>
            </a:endParaRPr>
          </a:p>
        </p:txBody>
      </p:sp>
      <p:sp>
        <p:nvSpPr>
          <p:cNvPr id="109" name="Rectangle 108"/>
          <p:cNvSpPr/>
          <p:nvPr/>
        </p:nvSpPr>
        <p:spPr>
          <a:xfrm>
            <a:off x="4571820" y="2095558"/>
            <a:ext cx="3904920" cy="2317416"/>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600" b="0" u="none" strike="noStrike" dirty="0">
                <a:solidFill>
                  <a:srgbClr val="191919"/>
                </a:solidFill>
                <a:effectLst/>
                <a:uFillTx/>
                <a:latin typeface="arial"/>
              </a:rPr>
              <a:t>Sketch: established macOS UI design with a rich plugin ecosystem. XD: prototyping and animation (availability/licensing varies). Canva: quick graphics, presentations, and simple mockups.</a:t>
            </a:r>
            <a:endParaRPr lang="en-US" sz="1600" b="0" u="none" strike="noStrike" dirty="0">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457200" y="228600"/>
            <a:ext cx="6933960" cy="447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3500" b="0" u="none" strike="noStrike">
                <a:solidFill>
                  <a:srgbClr val="191919"/>
                </a:solidFill>
                <a:effectLst/>
                <a:uFillTx/>
                <a:latin typeface="Radio Canada Big"/>
              </a:rPr>
              <a:t>Clutter-Free UI</a:t>
            </a:r>
            <a:endParaRPr lang="en-US" sz="3500" b="0" u="none" strike="noStrike">
              <a:solidFill>
                <a:srgbClr val="000000"/>
              </a:solidFill>
              <a:effectLst/>
              <a:uFillTx/>
              <a:latin typeface="OpenSymbol"/>
            </a:endParaRPr>
          </a:p>
        </p:txBody>
      </p:sp>
      <p:sp>
        <p:nvSpPr>
          <p:cNvPr id="111" name="Rectangle 110"/>
          <p:cNvSpPr/>
          <p:nvPr/>
        </p:nvSpPr>
        <p:spPr>
          <a:xfrm>
            <a:off x="637941" y="1274404"/>
            <a:ext cx="7868118" cy="2594692"/>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50000"/>
              </a:lnSpc>
              <a:tabLst>
                <a:tab pos="0" algn="l"/>
              </a:tabLst>
            </a:pPr>
            <a:r>
              <a:rPr lang="en-US" b="0" u="none" strike="noStrike" dirty="0">
                <a:solidFill>
                  <a:srgbClr val="191919"/>
                </a:solidFill>
                <a:effectLst/>
                <a:uFillTx/>
                <a:latin typeface="arial"/>
              </a:rPr>
              <a:t>Common mistakes waste cognitive load: too many colors and fonts fragment the interface. Cluttered screens hide priorities; use progressive disclosure to reveal content as needed. Small touch targets reduce accuracy—raise to 44px and add spacing. Poor contrast breaks readability; meet WCAG 4.5:1 for normal text. Standardize navigation patterns and labels to avoid confusion.</a:t>
            </a:r>
            <a:endParaRPr lang="en-US" b="0" u="none" strike="noStrike" dirty="0">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111"/>
          <p:cNvSpPr/>
          <p:nvPr/>
        </p:nvSpPr>
        <p:spPr>
          <a:xfrm>
            <a:off x="609480" y="1181160"/>
            <a:ext cx="259056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3" name="Rectangle 112"/>
          <p:cNvSpPr/>
          <p:nvPr/>
        </p:nvSpPr>
        <p:spPr>
          <a:xfrm>
            <a:off x="3333600" y="1181160"/>
            <a:ext cx="259056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4" name="Rectangle 113"/>
          <p:cNvSpPr/>
          <p:nvPr/>
        </p:nvSpPr>
        <p:spPr>
          <a:xfrm>
            <a:off x="6058080" y="1181160"/>
            <a:ext cx="308592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5" name="Oval 114"/>
          <p:cNvSpPr/>
          <p:nvPr/>
        </p:nvSpPr>
        <p:spPr>
          <a:xfrm>
            <a:off x="476280" y="1114560"/>
            <a:ext cx="132840" cy="132840"/>
          </a:xfrm>
          <a:prstGeom prst="ellipse">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6" name="Oval 115"/>
          <p:cNvSpPr/>
          <p:nvPr/>
        </p:nvSpPr>
        <p:spPr>
          <a:xfrm>
            <a:off x="3200400" y="1114560"/>
            <a:ext cx="132840" cy="132840"/>
          </a:xfrm>
          <a:prstGeom prst="ellipse">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7" name="Oval 116"/>
          <p:cNvSpPr/>
          <p:nvPr/>
        </p:nvSpPr>
        <p:spPr>
          <a:xfrm>
            <a:off x="5924520" y="1114560"/>
            <a:ext cx="132840" cy="132840"/>
          </a:xfrm>
          <a:prstGeom prst="ellipse">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8" name="Rectangle 117"/>
          <p:cNvSpPr/>
          <p:nvPr/>
        </p:nvSpPr>
        <p:spPr>
          <a:xfrm>
            <a:off x="0" y="3181320"/>
            <a:ext cx="47592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9" name="Rectangle 118"/>
          <p:cNvSpPr/>
          <p:nvPr/>
        </p:nvSpPr>
        <p:spPr>
          <a:xfrm>
            <a:off x="609480" y="3181320"/>
            <a:ext cx="259056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20" name="Oval 119"/>
          <p:cNvSpPr/>
          <p:nvPr/>
        </p:nvSpPr>
        <p:spPr>
          <a:xfrm>
            <a:off x="476280" y="3114720"/>
            <a:ext cx="132840" cy="132840"/>
          </a:xfrm>
          <a:prstGeom prst="ellipse">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21" name="Oval 120"/>
          <p:cNvSpPr/>
          <p:nvPr/>
        </p:nvSpPr>
        <p:spPr>
          <a:xfrm>
            <a:off x="3200400" y="3114720"/>
            <a:ext cx="132840" cy="132840"/>
          </a:xfrm>
          <a:prstGeom prst="ellipse">
            <a:avLst/>
          </a:prstGeom>
          <a:solidFill>
            <a:srgbClr val="16161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22" name="Rectangle 121"/>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0" u="none" strike="noStrike">
                <a:solidFill>
                  <a:srgbClr val="191919"/>
                </a:solidFill>
                <a:effectLst/>
                <a:uFillTx/>
                <a:latin typeface="Radio Canada Big"/>
              </a:rPr>
              <a:t>Future UI Trends</a:t>
            </a:r>
            <a:endParaRPr lang="en-US" sz="2600" b="0" u="none" strike="noStrike">
              <a:solidFill>
                <a:srgbClr val="000000"/>
              </a:solidFill>
              <a:effectLst/>
              <a:uFillTx/>
              <a:latin typeface="OpenSymbol"/>
            </a:endParaRPr>
          </a:p>
        </p:txBody>
      </p:sp>
      <p:sp>
        <p:nvSpPr>
          <p:cNvPr id="123" name="Rectangle 122"/>
          <p:cNvSpPr/>
          <p:nvPr/>
        </p:nvSpPr>
        <p:spPr>
          <a:xfrm>
            <a:off x="476280" y="1295280"/>
            <a:ext cx="2571480" cy="20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User Goal</a:t>
            </a:r>
            <a:endParaRPr lang="en-US" sz="1400" b="0" u="none" strike="noStrike">
              <a:solidFill>
                <a:srgbClr val="000000"/>
              </a:solidFill>
              <a:effectLst/>
              <a:uFillTx/>
              <a:latin typeface="OpenSymbol"/>
            </a:endParaRPr>
          </a:p>
        </p:txBody>
      </p:sp>
      <p:sp>
        <p:nvSpPr>
          <p:cNvPr id="124" name="Rectangle 123"/>
          <p:cNvSpPr/>
          <p:nvPr/>
        </p:nvSpPr>
        <p:spPr>
          <a:xfrm>
            <a:off x="476280" y="196200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Define the primary user goal for each screen.</a:t>
            </a:r>
            <a:endParaRPr lang="en-US" sz="1200" b="0" u="none" strike="noStrike">
              <a:solidFill>
                <a:srgbClr val="000000"/>
              </a:solidFill>
              <a:effectLst/>
              <a:uFillTx/>
              <a:latin typeface="OpenSymbol"/>
            </a:endParaRPr>
          </a:p>
        </p:txBody>
      </p:sp>
      <p:sp>
        <p:nvSpPr>
          <p:cNvPr id="125" name="Rectangle 124"/>
          <p:cNvSpPr/>
          <p:nvPr/>
        </p:nvSpPr>
        <p:spPr>
          <a:xfrm>
            <a:off x="3200400" y="1295280"/>
            <a:ext cx="2571480" cy="20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UI Principles</a:t>
            </a:r>
            <a:endParaRPr lang="en-US" sz="1400" b="0" u="none" strike="noStrike">
              <a:solidFill>
                <a:srgbClr val="000000"/>
              </a:solidFill>
              <a:effectLst/>
              <a:uFillTx/>
              <a:latin typeface="OpenSymbol"/>
            </a:endParaRPr>
          </a:p>
        </p:txBody>
      </p:sp>
      <p:sp>
        <p:nvSpPr>
          <p:cNvPr id="126" name="Rectangle 125"/>
          <p:cNvSpPr/>
          <p:nvPr/>
        </p:nvSpPr>
        <p:spPr>
          <a:xfrm>
            <a:off x="3200400" y="196200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Apply consistency, hierarchy, and spacing to guide decisions.</a:t>
            </a:r>
            <a:endParaRPr lang="en-US" sz="1200" b="0" u="none" strike="noStrike">
              <a:solidFill>
                <a:srgbClr val="000000"/>
              </a:solidFill>
              <a:effectLst/>
              <a:uFillTx/>
              <a:latin typeface="OpenSymbol"/>
            </a:endParaRPr>
          </a:p>
        </p:txBody>
      </p:sp>
      <p:sp>
        <p:nvSpPr>
          <p:cNvPr id="127" name="Rectangle 126"/>
          <p:cNvSpPr/>
          <p:nvPr/>
        </p:nvSpPr>
        <p:spPr>
          <a:xfrm>
            <a:off x="5924520" y="1295280"/>
            <a:ext cx="2571480" cy="20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Prototype Test</a:t>
            </a:r>
            <a:endParaRPr lang="en-US" sz="1400" b="0" u="none" strike="noStrike">
              <a:solidFill>
                <a:srgbClr val="000000"/>
              </a:solidFill>
              <a:effectLst/>
              <a:uFillTx/>
              <a:latin typeface="OpenSymbol"/>
            </a:endParaRPr>
          </a:p>
        </p:txBody>
      </p:sp>
      <p:sp>
        <p:nvSpPr>
          <p:cNvPr id="128" name="Rectangle 127"/>
          <p:cNvSpPr/>
          <p:nvPr/>
        </p:nvSpPr>
        <p:spPr>
          <a:xfrm>
            <a:off x="5924520" y="196200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Validate flow with a low-fi prototype and 3–5 users.</a:t>
            </a:r>
            <a:endParaRPr lang="en-US" sz="1200" b="0" u="none" strike="noStrike">
              <a:solidFill>
                <a:srgbClr val="000000"/>
              </a:solidFill>
              <a:effectLst/>
              <a:uFillTx/>
              <a:latin typeface="OpenSymbol"/>
            </a:endParaRPr>
          </a:p>
        </p:txBody>
      </p:sp>
      <p:sp>
        <p:nvSpPr>
          <p:cNvPr id="129" name="Rectangle 128"/>
          <p:cNvSpPr/>
          <p:nvPr/>
        </p:nvSpPr>
        <p:spPr>
          <a:xfrm>
            <a:off x="476280" y="3295800"/>
            <a:ext cx="2571480" cy="20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Accessibility</a:t>
            </a:r>
            <a:endParaRPr lang="en-US" sz="1400" b="0" u="none" strike="noStrike">
              <a:solidFill>
                <a:srgbClr val="000000"/>
              </a:solidFill>
              <a:effectLst/>
              <a:uFillTx/>
              <a:latin typeface="OpenSymbol"/>
            </a:endParaRPr>
          </a:p>
        </p:txBody>
      </p:sp>
      <p:sp>
        <p:nvSpPr>
          <p:cNvPr id="130" name="Rectangle 129"/>
          <p:cNvSpPr/>
          <p:nvPr/>
        </p:nvSpPr>
        <p:spPr>
          <a:xfrm>
            <a:off x="476280" y="396252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Ensure touch targets and contrast meet accessibility guidelines.</a:t>
            </a:r>
            <a:endParaRPr lang="en-US" sz="1200" b="0" u="none" strike="noStrike">
              <a:solidFill>
                <a:srgbClr val="000000"/>
              </a:solidFill>
              <a:effectLst/>
              <a:uFillTx/>
              <a:latin typeface="OpenSymbol"/>
            </a:endParaRPr>
          </a:p>
        </p:txBody>
      </p:sp>
      <p:sp>
        <p:nvSpPr>
          <p:cNvPr id="131" name="Rectangle 130"/>
          <p:cNvSpPr/>
          <p:nvPr/>
        </p:nvSpPr>
        <p:spPr>
          <a:xfrm>
            <a:off x="3200400" y="3295800"/>
            <a:ext cx="2571480" cy="20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62500" lnSpcReduction="20000"/>
          </a:bodyPr>
          <a:lstStyle/>
          <a:p>
            <a:pPr defTabSz="914400">
              <a:lnSpc>
                <a:spcPct val="100000"/>
              </a:lnSpc>
              <a:tabLst>
                <a:tab pos="0" algn="l"/>
              </a:tabLst>
            </a:pPr>
            <a:r>
              <a:rPr lang="en-US" sz="1400" b="0" u="none" strike="noStrike">
                <a:solidFill>
                  <a:srgbClr val="191919"/>
                </a:solidFill>
                <a:effectLst/>
                <a:uFillTx/>
                <a:latin typeface="Radio Canada Big"/>
              </a:rPr>
              <a:t>Iterate &amp; Measure</a:t>
            </a:r>
            <a:endParaRPr lang="en-US" sz="1400" b="0" u="none" strike="noStrike">
              <a:solidFill>
                <a:srgbClr val="000000"/>
              </a:solidFill>
              <a:effectLst/>
              <a:uFillTx/>
              <a:latin typeface="OpenSymbol"/>
            </a:endParaRPr>
          </a:p>
        </p:txBody>
      </p:sp>
      <p:sp>
        <p:nvSpPr>
          <p:cNvPr id="132" name="Rectangle 131"/>
          <p:cNvSpPr/>
          <p:nvPr/>
        </p:nvSpPr>
        <p:spPr>
          <a:xfrm>
            <a:off x="3200400" y="396252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191919"/>
                </a:solidFill>
                <a:effectLst/>
                <a:uFillTx/>
                <a:latin typeface="arial"/>
              </a:rPr>
              <a:t>Iterate based on feedback and measure task completion time.</a:t>
            </a:r>
            <a:endParaRPr lang="en-US" sz="1200" b="0" u="none" strike="noStrike">
              <a:solidFill>
                <a:srgbClr val="000000"/>
              </a:solidFill>
              <a:effectLst/>
              <a:uFillTx/>
              <a:latin typeface="OpenSymbo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1">
            <a:extLst>
              <a:ext uri="{FF2B5EF4-FFF2-40B4-BE49-F238E27FC236}">
                <a16:creationId xmlns:a16="http://schemas.microsoft.com/office/drawing/2014/main" id="{6778B86D-DA74-EC92-3739-A08326B613A7}"/>
              </a:ext>
            </a:extLst>
          </p:cNvPr>
          <p:cNvSpPr>
            <a:spLocks noGrp="1"/>
          </p:cNvSpPr>
          <p:nvPr>
            <p:ph type="title"/>
          </p:nvPr>
        </p:nvSpPr>
        <p:spPr>
          <a:xfrm>
            <a:off x="2433712" y="2063918"/>
            <a:ext cx="4276576" cy="1015663"/>
          </a:xfrm>
          <a:prstGeom prst="rect">
            <a:avLst/>
          </a:prstGeom>
          <a:noFill/>
          <a:ln w="0">
            <a:noFill/>
          </a:ln>
        </p:spPr>
        <p:txBody>
          <a:bodyPr wrap="square" lIns="91440" tIns="91440" rIns="91440" bIns="91440" anchor="b">
            <a:spAutoFit/>
          </a:bodyPr>
          <a:lstStyle/>
          <a:p>
            <a:pPr indent="0">
              <a:lnSpc>
                <a:spcPct val="100000"/>
              </a:lnSpc>
              <a:buNone/>
              <a:tabLst>
                <a:tab pos="0" algn="l"/>
              </a:tabLst>
            </a:pPr>
            <a:r>
              <a:rPr lang="en" sz="5400" b="0" u="none" strike="noStrike" dirty="0">
                <a:solidFill>
                  <a:schemeClr val="dk1"/>
                </a:solidFill>
                <a:effectLst/>
                <a:uFillTx/>
                <a:latin typeface="Radio Canada Big"/>
                <a:ea typeface="Radio Canada Big"/>
              </a:rPr>
              <a:t>THANK YOU</a:t>
            </a:r>
            <a:endParaRPr lang="fr-FR" sz="5400" b="0" u="none" strike="noStrike" dirty="0">
              <a:solidFill>
                <a:schemeClr val="dk1"/>
              </a:solidFill>
              <a:effectLst/>
              <a:uFillTx/>
              <a:latin typeface="Arial"/>
            </a:endParaRPr>
          </a:p>
        </p:txBody>
      </p:sp>
    </p:spTree>
    <p:extLst>
      <p:ext uri="{BB962C8B-B14F-4D97-AF65-F5344CB8AC3E}">
        <p14:creationId xmlns:p14="http://schemas.microsoft.com/office/powerpoint/2010/main" val="3395978036"/>
      </p:ext>
    </p:extLst>
  </p:cSld>
  <p:clrMapOvr>
    <a:masterClrMapping/>
  </p:clrMapOvr>
</p:sld>
</file>

<file path=ppt/theme/theme1.xml><?xml version="1.0" encoding="utf-8"?>
<a:theme xmlns:a="http://schemas.openxmlformats.org/drawingml/2006/main" name="Technology Launches by Slidesgo">
  <a:themeElements>
    <a:clrScheme name="Simple Light">
      <a:dk1>
        <a:srgbClr val="191919"/>
      </a:dk1>
      <a:lt1>
        <a:srgbClr val="EEEEEE"/>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793</Words>
  <Application>Microsoft Office PowerPoint</Application>
  <PresentationFormat>On-screen Show (16:9)</PresentationFormat>
  <Paragraphs>74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vt:lpstr>
      <vt:lpstr>OpenSymbol</vt:lpstr>
      <vt:lpstr>Radio Canada Big</vt:lpstr>
      <vt:lpstr>Symbol</vt:lpstr>
      <vt:lpstr>Wingdings</vt:lpstr>
      <vt:lpstr>Technology Launches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tapan</dc:creator>
  <cp:lastModifiedBy>Tapan patel</cp:lastModifiedBy>
  <cp:revision>1</cp:revision>
  <dcterms:modified xsi:type="dcterms:W3CDTF">2026-10-25T16:26:35Z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2026-10-25T16:17:51Z</dcterms:created>
  <dc:creator>Slidesgo AI</dc:creator>
  <dc:description/>
  <dc:language>en-US</dc:language>
  <cp:lastModifiedBy>Unknown Creator</cp:lastModifiedBy>
  <dcterms:modified xsi:type="dcterms:W3CDTF">2026-10-25T16:17:51Z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14</vt:r8>
  </property>
  <property fmtid="{D5CDD505-2E9C-101B-9397-08002B2CF9AE}" pid="3" name="SlidesgoGeneratedBy">
    <vt:lpwstr>slidesgo-ai</vt:lpwstr>
  </property>
  <property fmtid="{D5CDD505-2E9C-101B-9397-08002B2CF9AE}" pid="4" name="SlidesgoPresentationUuid">
    <vt:lpwstr>a311409a-9249-4f04-b43b-85243b05be26</vt:lpwstr>
  </property>
</Properties>
</file>